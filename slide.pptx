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8CCA"/>
          </a:solidFill>
          <a:ln w="12700">
            <a:solidFill>
              <a:srgbClr val="2D8C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Operations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11480" y="2834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2D8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cho vận hành ngân hàng nội bộ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3520440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1A4A7A"/>
          </a:solidFill>
          <a:ln w="12700">
            <a:solidFill>
              <a:srgbClr val="2D8C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5204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8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88920" y="3520440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1A4A7A"/>
          </a:solidFill>
          <a:ln w="12700">
            <a:solidFill>
              <a:srgbClr val="2D8C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35204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8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Cloud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66360" y="3520440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1A4A7A"/>
          </a:solidFill>
          <a:ln w="12700">
            <a:solidFill>
              <a:srgbClr val="2D8C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66360" y="35204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8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Compliance-First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914400"/>
            <a:ext cx="1645920" cy="164592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83464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95160" y="2880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tư 64/2024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3375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95160" y="3383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Nghị định 13/2023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1148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Nỗi đau &amp; Cơ hội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8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HIỆN TẠI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840480" cy="914400"/>
          </a:xfrm>
          <a:prstGeom prst="rect">
            <a:avLst/>
          </a:prstGeom>
          <a:solidFill>
            <a:srgbClr val="FFF5F0"/>
          </a:solidFill>
          <a:ln w="12700">
            <a:solidFill>
              <a:srgbClr val="FED7C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3990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cứu thủ công chậm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1673352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chục bộ SOP, KYC, quy định tín dụng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đổi liên tục — tìm kiếm mất nhiều phút.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2377440"/>
            <a:ext cx="3840480" cy="914400"/>
          </a:xfrm>
          <a:prstGeom prst="rect">
            <a:avLst/>
          </a:prstGeom>
          <a:solidFill>
            <a:srgbClr val="FFF5F0"/>
          </a:solidFill>
          <a:ln w="12700">
            <a:solidFill>
              <a:srgbClr val="FED7C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060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24505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ro sai sót nghiệp vụ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60120" y="2724912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lực cao tại quầy dẫn đến non-compliance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 rủi ro phạt từ cơ quan quản lý.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3429000"/>
            <a:ext cx="3840480" cy="914400"/>
          </a:xfrm>
          <a:prstGeom prst="rect">
            <a:avLst/>
          </a:prstGeom>
          <a:solidFill>
            <a:srgbClr val="FFF5F0"/>
          </a:solidFill>
          <a:ln w="12700">
            <a:solidFill>
              <a:srgbClr val="FED7C3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576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35021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Năng suất thấp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960120" y="3776472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dịch viên &amp; back-office lãng phí thời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 thay vì phục vụ khách hàng.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343400" y="1645920"/>
            <a:ext cx="457200" cy="457200"/>
          </a:xfrm>
          <a:prstGeom prst="rect">
            <a:avLst/>
          </a:prstGeom>
          <a:solidFill>
            <a:srgbClr val="2D8CCA"/>
          </a:solidFill>
          <a:ln w="12700">
            <a:solidFill>
              <a:srgbClr val="2D8CC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1719072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93776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 BOC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937760" y="1325880"/>
            <a:ext cx="3840480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55448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532120" y="13990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cứu tức thì, chính xác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5532120" y="1673352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trả lời ngay lập tức dựa trên kho SOP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 quy định được cập nhật liên tục.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4937760" y="2377440"/>
            <a:ext cx="3840480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60604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532120" y="24505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Tuân thủ pháp lý tự động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5532120" y="2724912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trả lời luôn bám sát Thông tư 64/2024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 Nghị định 13/2023.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4937760" y="3429000"/>
            <a:ext cx="3840480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3657600"/>
            <a:ext cx="365760" cy="36576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532120" y="35021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30% thời gian xử lý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5532120" y="3776472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dịch viên tập trung vào khách hàng;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 xử lý hồ sơ nhanh hơn.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Enterprise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658368"/>
          </a:xfrm>
          <a:prstGeom prst="rect">
            <a:avLst/>
          </a:prstGeom>
          <a:solidFill>
            <a:srgbClr val="1A4A7A"/>
          </a:solidFill>
          <a:ln w="12700">
            <a:solidFill>
              <a:srgbClr val="0D213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058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 &amp; Dữ liệu cá nhân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618488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488" y="1828800"/>
            <a:ext cx="256032" cy="256032"/>
          </a:xfrm>
          <a:prstGeom prst="rect">
            <a:avLst/>
          </a:prstGeom>
          <a:solidFill>
            <a:srgbClr val="2D8CCA"/>
          </a:solidFill>
          <a:ln w="12700">
            <a:solidFill>
              <a:srgbClr val="2D8CC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82880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1810512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và hồ sơ tín dụng có độ nhạy cảm cực cao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75488" y="2606040"/>
            <a:ext cx="256032" cy="256032"/>
          </a:xfrm>
          <a:prstGeom prst="rect">
            <a:avLst/>
          </a:prstGeom>
          <a:solidFill>
            <a:srgbClr val="2D8CCA"/>
          </a:solidFill>
          <a:ln w="12700">
            <a:solidFill>
              <a:srgbClr val="2D8CC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60604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60" y="2587752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Lọc PII trước khi gửi qua bất kỳ API bên ngoài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75488" y="3383280"/>
            <a:ext cx="256032" cy="256032"/>
          </a:xfrm>
          <a:prstGeom prst="rect">
            <a:avLst/>
          </a:prstGeom>
          <a:solidFill>
            <a:srgbClr val="2D8CCA"/>
          </a:solidFill>
          <a:ln w="12700">
            <a:solidFill>
              <a:srgbClr val="2D8CCA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383280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2960" y="3364992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không rời lãnh thổ Việt Nam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3200400" y="960120"/>
            <a:ext cx="2651760" cy="658368"/>
          </a:xfrm>
          <a:prstGeom prst="rect">
            <a:avLst/>
          </a:prstGeom>
          <a:solidFill>
            <a:srgbClr val="0B4F3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1033272"/>
            <a:ext cx="420624" cy="42062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840480" y="10058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Tuân thủ pháp lý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3200400" y="1618488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3310128" y="1828800"/>
            <a:ext cx="256032" cy="256032"/>
          </a:xfrm>
          <a:prstGeom prst="rect">
            <a:avLst/>
          </a:prstGeom>
          <a:solidFill>
            <a:srgbClr val="2D8CCA"/>
          </a:solidFill>
          <a:ln w="12700">
            <a:solidFill>
              <a:srgbClr val="2D8CCA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0128" y="1828800"/>
            <a:ext cx="256032" cy="25603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657600" y="1810512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tư 64/2024/TT-NHNN (An toàn Cấp độ 3)</a:t>
            </a:r>
            <a:endParaRPr lang="en-US" sz="1050" dirty="0"/>
          </a:p>
        </p:txBody>
      </p:sp>
      <p:sp>
        <p:nvSpPr>
          <p:cNvPr id="24" name="Shape 16"/>
          <p:cNvSpPr/>
          <p:nvPr/>
        </p:nvSpPr>
        <p:spPr>
          <a:xfrm>
            <a:off x="3310128" y="2606040"/>
            <a:ext cx="256032" cy="256032"/>
          </a:xfrm>
          <a:prstGeom prst="rect">
            <a:avLst/>
          </a:prstGeom>
          <a:solidFill>
            <a:srgbClr val="2D8CCA"/>
          </a:solidFill>
          <a:ln w="12700">
            <a:solidFill>
              <a:srgbClr val="2D8CCA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28" y="2606040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657600" y="2587752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Nghị định 13/2023 – bảo vệ dữ liệu cá nhân</a:t>
            </a:r>
            <a:endParaRPr lang="en-US" sz="1050" dirty="0"/>
          </a:p>
        </p:txBody>
      </p:sp>
      <p:sp>
        <p:nvSpPr>
          <p:cNvPr id="27" name="Shape 18"/>
          <p:cNvSpPr/>
          <p:nvPr/>
        </p:nvSpPr>
        <p:spPr>
          <a:xfrm>
            <a:off x="3310128" y="3383280"/>
            <a:ext cx="256032" cy="256032"/>
          </a:xfrm>
          <a:prstGeom prst="rect">
            <a:avLst/>
          </a:prstGeom>
          <a:solidFill>
            <a:srgbClr val="2D8CCA"/>
          </a:solidFill>
          <a:ln w="12700">
            <a:solidFill>
              <a:srgbClr val="2D8CCA"/>
            </a:solidFill>
            <a:prstDash val="solid"/>
          </a:ln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0128" y="3383280"/>
            <a:ext cx="256032" cy="25603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3657600" y="3364992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tối thiểu 1 năm theo yêu cầu</a:t>
            </a:r>
            <a:endParaRPr lang="en-US" sz="1050" dirty="0"/>
          </a:p>
        </p:txBody>
      </p:sp>
      <p:sp>
        <p:nvSpPr>
          <p:cNvPr id="30" name="Shape 20"/>
          <p:cNvSpPr/>
          <p:nvPr/>
        </p:nvSpPr>
        <p:spPr>
          <a:xfrm>
            <a:off x="6035040" y="960120"/>
            <a:ext cx="2651760" cy="658368"/>
          </a:xfrm>
          <a:prstGeom prst="rect">
            <a:avLst/>
          </a:prstGeom>
          <a:solidFill>
            <a:srgbClr val="4A1942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1033272"/>
            <a:ext cx="420624" cy="420624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675120" y="10058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hệ thống cũ</a:t>
            </a:r>
            <a:endParaRPr lang="en-US" sz="1200" dirty="0"/>
          </a:p>
        </p:txBody>
      </p:sp>
      <p:sp>
        <p:nvSpPr>
          <p:cNvPr id="33" name="Shape 22"/>
          <p:cNvSpPr/>
          <p:nvPr/>
        </p:nvSpPr>
        <p:spPr>
          <a:xfrm>
            <a:off x="6035040" y="1618488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4" name="Shape 23"/>
          <p:cNvSpPr/>
          <p:nvPr/>
        </p:nvSpPr>
        <p:spPr>
          <a:xfrm>
            <a:off x="6144768" y="1828800"/>
            <a:ext cx="256032" cy="256032"/>
          </a:xfrm>
          <a:prstGeom prst="rect">
            <a:avLst/>
          </a:prstGeom>
          <a:solidFill>
            <a:srgbClr val="2D8CCA"/>
          </a:solidFill>
          <a:ln w="12700">
            <a:solidFill>
              <a:srgbClr val="2D8CCA"/>
            </a:solidFill>
            <a:prstDash val="solid"/>
          </a:ln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4768" y="1828800"/>
            <a:ext cx="256032" cy="256032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6492240" y="1810512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legacy — API Gateway ổn định</a:t>
            </a:r>
            <a:endParaRPr lang="en-US" sz="1050" dirty="0"/>
          </a:p>
        </p:txBody>
      </p:sp>
      <p:sp>
        <p:nvSpPr>
          <p:cNvPr id="37" name="Shape 25"/>
          <p:cNvSpPr/>
          <p:nvPr/>
        </p:nvSpPr>
        <p:spPr>
          <a:xfrm>
            <a:off x="6144768" y="2606040"/>
            <a:ext cx="256032" cy="256032"/>
          </a:xfrm>
          <a:prstGeom prst="rect">
            <a:avLst/>
          </a:prstGeom>
          <a:solidFill>
            <a:srgbClr val="2D8CCA"/>
          </a:solidFill>
          <a:ln w="12700">
            <a:solidFill>
              <a:srgbClr val="2D8CCA"/>
            </a:solidFill>
            <a:prstDash val="solid"/>
          </a:ln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44768" y="2606040"/>
            <a:ext cx="256032" cy="256032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6492240" y="2587752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đầy đủ cho mọi câu truy vấn</a:t>
            </a:r>
            <a:endParaRPr lang="en-US" sz="1050" dirty="0"/>
          </a:p>
        </p:txBody>
      </p:sp>
      <p:sp>
        <p:nvSpPr>
          <p:cNvPr id="40" name="Shape 27"/>
          <p:cNvSpPr/>
          <p:nvPr/>
        </p:nvSpPr>
        <p:spPr>
          <a:xfrm>
            <a:off x="6144768" y="3383280"/>
            <a:ext cx="256032" cy="256032"/>
          </a:xfrm>
          <a:prstGeom prst="rect">
            <a:avLst/>
          </a:prstGeom>
          <a:solidFill>
            <a:srgbClr val="2D8CCA"/>
          </a:solidFill>
          <a:ln w="12700">
            <a:solidFill>
              <a:srgbClr val="2D8CCA"/>
            </a:solidFill>
            <a:prstDash val="solid"/>
          </a:ln>
        </p:spPr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44768" y="3383280"/>
            <a:ext cx="256032" cy="256032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6492240" y="3364992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gián đoạn luồng giao dịch hiện tại</a:t>
            </a:r>
            <a:endParaRPr lang="en-US" sz="1050" dirty="0"/>
          </a:p>
        </p:txBody>
      </p:sp>
      <p:sp>
        <p:nvSpPr>
          <p:cNvPr id="43" name="Shape 29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FFF8E6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4" name="Text 30"/>
          <p:cNvSpPr/>
          <p:nvPr/>
        </p:nvSpPr>
        <p:spPr>
          <a:xfrm>
            <a:off x="502920" y="43159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Điểm nhấn chuyên môn:</a:t>
            </a:r>
            <a:endParaRPr lang="en-US" sz="1100" dirty="0"/>
          </a:p>
        </p:txBody>
      </p:sp>
      <p:sp>
        <p:nvSpPr>
          <p:cNvPr id="45" name="Text 31"/>
          <p:cNvSpPr/>
          <p:nvPr/>
        </p:nvSpPr>
        <p:spPr>
          <a:xfrm>
            <a:off x="2651760" y="4279392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am hiểu sâu Thông tư 64/2024 — đây là lợi thế cạnh tranh quan trọng nhất trong việc triển khai AI tại ngân hàng.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Hybrid Deployment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840480" cy="3886200"/>
          </a:xfrm>
          <a:prstGeom prst="rect">
            <a:avLst/>
          </a:prstGeom>
          <a:solidFill>
            <a:srgbClr val="F0F5FA"/>
          </a:solidFill>
          <a:ln w="12700">
            <a:solidFill>
              <a:srgbClr val="C5D8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3840480" cy="50292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1005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/ PRIVATE CLOUD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1645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(tài liệu SOP, KYC)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04288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230428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Filtering Engine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62656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68680" y="296265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System (≥ 1 năm)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21024"/>
            <a:ext cx="320040" cy="3200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68680" y="362102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Fallback Model</a:t>
            </a:r>
            <a:endParaRPr lang="en-US" sz="1100" dirty="0"/>
          </a:p>
        </p:txBody>
      </p:sp>
      <p:sp>
        <p:nvSpPr>
          <p:cNvPr id="16" name="Shape 9"/>
          <p:cNvSpPr/>
          <p:nvPr/>
        </p:nvSpPr>
        <p:spPr>
          <a:xfrm>
            <a:off x="4206240" y="2468880"/>
            <a:ext cx="731520" cy="320040"/>
          </a:xfrm>
          <a:prstGeom prst="rect">
            <a:avLst/>
          </a:prstGeom>
          <a:solidFill>
            <a:srgbClr val="2D8CCA"/>
          </a:solidFill>
          <a:ln w="12700">
            <a:solidFill>
              <a:srgbClr val="2D8CC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4206240" y="24688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4114800" y="2624328"/>
            <a:ext cx="91440" cy="0"/>
          </a:xfrm>
          <a:prstGeom prst="line">
            <a:avLst/>
          </a:prstGeom>
          <a:noFill/>
          <a:ln w="25400">
            <a:solidFill>
              <a:srgbClr val="2D8CCA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4114800" y="2624328"/>
            <a:ext cx="914400" cy="0"/>
          </a:xfrm>
          <a:prstGeom prst="line">
            <a:avLst/>
          </a:prstGeom>
          <a:noFill/>
          <a:ln w="25400">
            <a:solidFill>
              <a:srgbClr val="2D8CCA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4160520" y="28346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đã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ẩn danh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5029200" y="960120"/>
            <a:ext cx="3840480" cy="388620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5029200" y="960120"/>
            <a:ext cx="384048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1005840"/>
            <a:ext cx="347472" cy="34747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559552" y="1005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PUBLIC CLOUD</a:t>
            </a:r>
            <a:endParaRPr lang="en-US" sz="11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0" y="1645920"/>
            <a:ext cx="320040" cy="32004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623560" y="16459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— GPT-4o</a:t>
            </a:r>
            <a:endParaRPr lang="en-US" sz="11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2080" y="2304288"/>
            <a:ext cx="320040" cy="32004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623560" y="230428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Query Engine</a:t>
            </a:r>
            <a:endParaRPr lang="en-US" sz="11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2080" y="2962656"/>
            <a:ext cx="320040" cy="32004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623560" y="296265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Cache Layer</a:t>
            </a:r>
            <a:endParaRPr lang="en-US" sz="110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2080" y="3621024"/>
            <a:ext cx="320040" cy="32004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5623560" y="362102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Routing Logic</a:t>
            </a:r>
            <a:endParaRPr lang="en-US" sz="1100" dirty="0"/>
          </a:p>
        </p:txBody>
      </p:sp>
      <p:sp>
        <p:nvSpPr>
          <p:cNvPr id="33" name="Shape 21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4" name="Text 22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Dữ liệu không rời lãnh thổ  ·  ✓  Tuân thủ Thông tư 64  ·  ✓  Tận dụng SOTA model GPT-4o cho độ chính xác cao nhất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Chi phí &amp; Hiệu quả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3931920" cy="54864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— 1,000 Users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ban đầu (Infra &amp; Pipeline)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3566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788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8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 / tháng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· Hosting · Compliance review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960120"/>
            <a:ext cx="420624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98755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— 10,000 Users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420624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1783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tỷ lệ thuận với users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350008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4414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savings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4414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~40% qua Semantic Cache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008376"/>
            <a:ext cx="420624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309981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chính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309981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30% thời gian xử lý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666744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375818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ROI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75818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Tránh phạt non-compliance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681728"/>
            <a:ext cx="256032" cy="25603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31520" y="464515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vi phạm compliance trong ngân hàng &gt;&gt; chi phí đầu tư BOC — ROI là hiển nhiên.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Chi phí &amp; Độ tin cậy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D8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840480" cy="960120"/>
          </a:xfrm>
          <a:prstGeom prst="rect">
            <a:avLst/>
          </a:prstGeom>
          <a:solidFill>
            <a:srgbClr val="F0F5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502920" cy="960120"/>
          </a:xfrm>
          <a:prstGeom prst="rect">
            <a:avLst/>
          </a:prstGeom>
          <a:solidFill>
            <a:srgbClr val="2D8CCA"/>
          </a:solidFill>
          <a:ln w="12700">
            <a:solidFill>
              <a:srgbClr val="2D8CC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52704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13533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Caching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87552" y="1664208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40% token costs cho câu hỏi lặp lại về quy trình thường gặp.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5760" y="2377440"/>
            <a:ext cx="3840480" cy="960120"/>
          </a:xfrm>
          <a:prstGeom prst="rect">
            <a:avLst/>
          </a:prstGeom>
          <a:solidFill>
            <a:srgbClr val="F0F5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" y="2377440"/>
            <a:ext cx="502920" cy="960120"/>
          </a:xfrm>
          <a:prstGeom prst="rect">
            <a:avLst/>
          </a:prstGeom>
          <a:solidFill>
            <a:srgbClr val="2D8CCA"/>
          </a:solidFill>
          <a:ln w="12700">
            <a:solidFill>
              <a:srgbClr val="2D8CC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62432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87552" y="245059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87552" y="2761488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cho câu định nghĩa đơn giản; GPT-4o cho phân tích tín dụng phức tạp.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65760" y="3474720"/>
            <a:ext cx="3840480" cy="960120"/>
          </a:xfrm>
          <a:prstGeom prst="rect">
            <a:avLst/>
          </a:prstGeom>
          <a:solidFill>
            <a:srgbClr val="F0F5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65760" y="3474720"/>
            <a:ext cx="502920" cy="960120"/>
          </a:xfrm>
          <a:prstGeom prst="rect">
            <a:avLst/>
          </a:prstGeom>
          <a:solidFill>
            <a:srgbClr val="2D8CCA"/>
          </a:solidFill>
          <a:ln w="12700">
            <a:solidFill>
              <a:srgbClr val="2D8CC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372160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7552" y="354787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Compression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987552" y="3858768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input tokens khi xử lý SOP dài hàng trăm trang.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937760" y="9144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937760" y="1280160"/>
            <a:ext cx="3840480" cy="96012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937760" y="1280160"/>
            <a:ext cx="50292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1527048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59552" y="13533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Mechanism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559552" y="1664208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chuyển sang model On-prem hoặc PDF gốc khi provider timeout.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937760" y="2377440"/>
            <a:ext cx="3840480" cy="96012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937760" y="2377440"/>
            <a:ext cx="50292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624" y="2624328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559552" y="245059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Monitoring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559552" y="2761488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tự động độ trung thực câu trả lời so với tài liệu nguồn.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4937760" y="3474720"/>
            <a:ext cx="3840480" cy="96012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937760" y="3474720"/>
            <a:ext cx="50292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624" y="3721608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559552" y="354787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Reporting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559552" y="3858768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viên gắn cờ câu trả lời nghi ngờ; đội Compliance xử lý nhanh.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31520"/>
            <a:ext cx="2194560" cy="2194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3063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đề xuất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74320" y="338328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94360" y="4315968"/>
            <a:ext cx="2286000" cy="384048"/>
          </a:xfrm>
          <a:prstGeom prst="rect">
            <a:avLst/>
          </a:prstGeom>
          <a:solidFill>
            <a:srgbClr val="2D8CCA"/>
          </a:solidFill>
          <a:ln w="12700">
            <a:solidFill>
              <a:srgbClr val="2D8CC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43159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· Đo lường · Tối ưu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749040" y="4572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Triển khai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749040" y="1143000"/>
            <a:ext cx="5029200" cy="1005840"/>
          </a:xfrm>
          <a:prstGeom prst="rect">
            <a:avLst/>
          </a:prstGeom>
          <a:solidFill>
            <a:srgbClr val="122842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49040" y="1143000"/>
            <a:ext cx="685800" cy="1005840"/>
          </a:xfrm>
          <a:prstGeom prst="rect">
            <a:avLst/>
          </a:prstGeom>
          <a:solidFill>
            <a:srgbClr val="2D8CCA"/>
          </a:solidFill>
          <a:ln w="12700">
            <a:solidFill>
              <a:srgbClr val="2D8C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49040" y="1143000"/>
            <a:ext cx="685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526280" y="12161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Dataset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26280" y="15544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bộ kiểm thử chuẩn từ dữ liệu lịch sử ngân hàng để đo độ chính xác của mô hình.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749040" y="2331720"/>
            <a:ext cx="5029200" cy="1005840"/>
          </a:xfrm>
          <a:prstGeom prst="rect">
            <a:avLst/>
          </a:prstGeom>
          <a:solidFill>
            <a:srgbClr val="122842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49040" y="2331720"/>
            <a:ext cx="685800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49040" y="2331720"/>
            <a:ext cx="685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526280" y="24048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tại 2 chi nhánh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26280" y="27432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thử nghiệm tại 2 chi nhánh trọng điểm, đo KPI thực tế và thu thập phản hồi.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749040" y="3520440"/>
            <a:ext cx="5029200" cy="1005840"/>
          </a:xfrm>
          <a:prstGeom prst="rect">
            <a:avLst/>
          </a:prstGeom>
          <a:solidFill>
            <a:srgbClr val="122842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749040" y="3520440"/>
            <a:ext cx="685800" cy="10058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749040" y="3520440"/>
            <a:ext cx="685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4526280" y="35935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&amp; Compliance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26280" y="39319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thiện hệ thống Audit Log theo Thông tư 64/2024 và chuẩn bị cho triển khai toàn hàng.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749040" y="4663440"/>
            <a:ext cx="5029200" cy="347472"/>
          </a:xfrm>
          <a:prstGeom prst="rect">
            <a:avLst/>
          </a:prstGeom>
          <a:solidFill>
            <a:srgbClr val="2D8CCA"/>
          </a:solidFill>
          <a:ln w="12700">
            <a:solidFill>
              <a:srgbClr val="2D8CC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49040" y="46634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Ban lãnh đạo đã lắng nghe!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Operations Copilot</dc:title>
  <dc:subject>PptxGenJS Presentation</dc:subject>
  <dc:creator>PptxGenJS</dc:creator>
  <cp:lastModifiedBy>PptxGenJS</cp:lastModifiedBy>
  <cp:revision>1</cp:revision>
  <dcterms:created xsi:type="dcterms:W3CDTF">2026-04-22T08:04:31Z</dcterms:created>
  <dcterms:modified xsi:type="dcterms:W3CDTF">2026-04-22T08:04:31Z</dcterms:modified>
</cp:coreProperties>
</file>